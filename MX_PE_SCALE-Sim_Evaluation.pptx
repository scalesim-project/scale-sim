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1F2A"/>
                </a:solidFill>
              </a:defRPr>
            </a:pPr>
            <a:r>
              <a:t>System-Level Evaluation of the N-way Fused MX Dot-Product PE</a:t>
            </a:r>
          </a:p>
          <a:p>
            <a:pPr>
              <a:spcBef>
                <a:spcPts val="1400"/>
              </a:spcBef>
              <a:defRPr sz="1800">
                <a:solidFill>
                  <a:srgbClr val="444444"/>
                </a:solidFill>
              </a:defRPr>
            </a:pPr>
            <a:r>
              <a:t>SCALE-Sim system-level simulation + PrimeTime PX synthesis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1F2A"/>
                </a:solidFill>
              </a:defRPr>
            </a:pPr>
            <a:r>
              <a:t>SCALE-Sim Configuration</a:t>
            </a:r>
          </a:p>
          <a:p>
            <a:pPr>
              <a:defRPr sz="1500" i="1">
                <a:solidFill>
                  <a:srgbClr val="444444"/>
                </a:solidFill>
              </a:defRPr>
            </a:pPr>
            <a:r>
              <a:t>configs/mx_fused_pe_32x32_os.cfg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B1F2A"/>
                </a:solidFill>
              </a:defRPr>
            </a:pPr>
            <a:r>
              <a:t>▸ Array size: 32 x 32 (1024 PEs) -- 1 SCALE-Sim PE = 1 instance of the fused N-way dot-product unit</a:t>
            </a:r>
          </a:p>
          <a:p>
            <a:pPr>
              <a:spcAft>
                <a:spcPts val="1000"/>
              </a:spcAft>
              <a:defRPr sz="1900">
                <a:solidFill>
                  <a:srgbClr val="1B1F2A"/>
                </a:solidFill>
              </a:defRPr>
            </a:pPr>
            <a:r>
              <a:t>▸ Dataflow: Output-Stationary (OS)</a:t>
            </a:r>
          </a:p>
          <a:p>
            <a:pPr>
              <a:spcAft>
                <a:spcPts val="400"/>
              </a:spcAft>
              <a:defRPr sz="1700">
                <a:solidFill>
                  <a:srgbClr val="444444"/>
                </a:solidFill>
              </a:defRPr>
            </a:pPr>
            <a:r>
              <a:t>   - Chosen to match the PE's internally-accumulating output register: partial sums held and</a:t>
            </a:r>
          </a:p>
          <a:p>
            <a:pPr>
              <a:spcAft>
                <a:spcPts val="400"/>
              </a:spcAft>
              <a:defRPr sz="1700">
                <a:solidFill>
                  <a:srgbClr val="444444"/>
                </a:solidFill>
              </a:defRPr>
            </a:pPr>
            <a:r>
              <a:t>   - updated locally within each PE, mirroring the double-pumped accumulator's behavior</a:t>
            </a:r>
          </a:p>
          <a:p>
            <a:pPr>
              <a:spcAft>
                <a:spcPts val="1000"/>
              </a:spcAft>
              <a:defRPr sz="1900">
                <a:solidFill>
                  <a:srgbClr val="1B1F2A"/>
                </a:solidFill>
              </a:defRPr>
            </a:pPr>
            <a:r>
              <a:t>▸ On-chip SRAM: 64 KB each for IFMAP / Filter / OFMAP</a:t>
            </a:r>
          </a:p>
          <a:p>
            <a:pPr>
              <a:spcAft>
                <a:spcPts val="1000"/>
              </a:spcAft>
              <a:defRPr sz="1900">
                <a:solidFill>
                  <a:srgbClr val="1B1F2A"/>
                </a:solidFill>
              </a:defRPr>
            </a:pPr>
            <a:r>
              <a:t>▸ Bandwidth: nominal 10 words/cycle, InterfaceBandwidth = CALC</a:t>
            </a:r>
          </a:p>
          <a:p>
            <a:pPr>
              <a:spcAft>
                <a:spcPts val="400"/>
              </a:spcAft>
              <a:defRPr sz="1700">
                <a:solidFill>
                  <a:srgbClr val="444444"/>
                </a:solidFill>
              </a:defRPr>
            </a:pPr>
            <a:r>
              <a:t>   - SCALE-Sim estimates whatever bandwidth avoids stalling compute, rather than enforcing a cap</a:t>
            </a:r>
          </a:p>
          <a:p>
            <a:pPr>
              <a:spcAft>
                <a:spcPts val="400"/>
              </a:spcAft>
              <a:defRPr sz="1700">
                <a:solidFill>
                  <a:srgbClr val="444444"/>
                </a:solidFill>
              </a:defRPr>
            </a:pPr>
            <a:r>
              <a:t>   - -&gt; this is why every evaluated workload reports zero stall cycles (compute-bound throughout)</a:t>
            </a:r>
          </a:p>
          <a:p>
            <a:pPr>
              <a:spcAft>
                <a:spcPts val="1000"/>
              </a:spcAft>
              <a:defRPr sz="1900">
                <a:solidFill>
                  <a:srgbClr val="1B1F2A"/>
                </a:solidFill>
              </a:defRPr>
            </a:pPr>
            <a:r>
              <a:t>▸ Sparsity support: disabled</a:t>
            </a:r>
          </a:p>
          <a:p>
            <a:pPr>
              <a:spcAft>
                <a:spcPts val="1000"/>
              </a:spcAft>
              <a:defRPr sz="1900">
                <a:solidFill>
                  <a:srgbClr val="1B1F2A"/>
                </a:solidFill>
              </a:defRPr>
            </a:pPr>
            <a:r>
              <a:t>▸ Per-PE compute model: SCALE-Sim natively assumes 1 op/PE/cycle (no notion of precision or fusion width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Same configuration used for every workload in this evaluation; restated at the top of both result text files for self-containment.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1F2A"/>
                </a:solidFill>
              </a:defRPr>
            </a:pPr>
            <a:r>
              <a:t>Raw SCALE-Sim Results</a:t>
            </a:r>
          </a:p>
          <a:p>
            <a:pPr>
              <a:defRPr sz="1500" i="1">
                <a:solidFill>
                  <a:srgbClr val="444444"/>
                </a:solidFill>
              </a:defRPr>
            </a:pPr>
            <a:r>
              <a:t>mx_pe_eval_raw_metrics.csv -- synthesis-independent, N-independent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94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Layers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MACs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Cycles (N=1 baseline)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Stall cycles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ResNet-18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1,471,181,568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1,718,353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AlexNet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805,118,496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850,960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Transformer-Fwd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5,826,038,528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7,133,750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Transformer-InpGrad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4,089,184,256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5,899,178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MLPerf-Transformer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113,029,120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4,870,117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ViT-S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275,165,184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352,781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ViT-B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983,248,896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1,169,093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ViT-L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1,761,378,304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2,071,105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ViT-H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3,601,858,560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3,711,547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950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ViT-bigG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1,555,562,496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1,611,004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B1F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* MLPerf-Transformer decomposes attention into ~890 narrow per-head GEMMs -- kept for completeness, treated as an outlier below (see slide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1F2A"/>
                </a:solidFill>
              </a:defRPr>
            </a:pPr>
            <a:r>
              <a:t>Post-Processing Methodology</a:t>
            </a:r>
          </a:p>
          <a:p>
            <a:pPr>
              <a:defRPr sz="1500" i="1">
                <a:solidFill>
                  <a:srgbClr val="444444"/>
                </a:solidFill>
              </a:defRPr>
            </a:pPr>
            <a:r>
              <a:t>Mapping SCALE-Sim's baseline (N=1) simulation to the fused N-way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SCALE-Sim has no native notion of operand precision or per-PE reduction width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-&gt; each workload is simulated once, unmodified, to get baseline per-layer cycles C_l and stall cycles S_l</a:t>
            </a:r>
          </a:p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Fused-N cycle projection (per layer, before summing):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C_l(N)  =  S_l  +  ceil( (C_l - S_l) / N )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stall cycles preserved unchanged -- memory traffic is independent of the PE's fusion width</a:t>
            </a:r>
          </a:p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Cycles -&gt; latency -&gt; throughput, using the post-synthesis clock period T(N):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Latency(N) = C(N) x T(N)          Achieved TOPS(N) = 2 x MACs / Latency(N)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Peak TOPS(N) = 2 x N x 1024 x (1/T(N))</a:t>
            </a:r>
          </a:p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Power / area (not modeled by SCALE-Sim) from post-synthesis per-PE figures: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Power_array(N) = Power_PE(N) x 1024          Area_array(N) = Area_PE(N) x 1024 / 1e6</a:t>
            </a:r>
          </a:p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Two decoupled stages: (1) raw metrics extraction [synthesis-independent] -&gt; (2) PPA recompute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[synthesis-dependent] -- stage 2 reruns with new synthesis numbers, no SCALE-Sim re-run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1F2A"/>
                </a:solidFill>
              </a:defRPr>
            </a:pPr>
            <a:r>
              <a:t>SCALE-Sim-Only Findings</a:t>
            </a:r>
          </a:p>
          <a:p>
            <a:pPr>
              <a:defRPr sz="1500" i="1">
                <a:solidFill>
                  <a:srgbClr val="444444"/>
                </a:solidFill>
              </a:defRPr>
            </a:pPr>
            <a:r>
              <a:t>Before combining with synthesis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Realized fusion speedup is exact, not just theoretical, on every evaluated workload: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- 4.00x  (N=4)   /   8.00x  (N=8)   /   16.00x  (N=16)  -- vs. a same-clock, unfused (N=1) reference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Follows directly from zero stall cycles everywhere: every workload is compute-bound end-to-end,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so the full theoretical fusion benefit is realized, not partially masked by memory stalls</a:t>
            </a:r>
          </a:p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Array utilization range across evaluated workloads: 67.7% - 94.8%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(excludes the MLPerf-Transformer benchmark artifact -- see slide 2)</a:t>
            </a:r>
          </a:p>
          <a:p>
            <a:pPr>
              <a:spcAft>
                <a:spcPts val="1000"/>
              </a:spcAft>
              <a:defRPr sz="1800">
                <a:solidFill>
                  <a:srgbClr val="1B1F2A"/>
                </a:solidFill>
              </a:defRPr>
            </a:pPr>
            <a:r>
              <a:t>▸ Same-workload comparison vs. Cuyckens et al. NPU-integrated tensor core (8x8, 64 MACs):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ResNet-18 (inference):  83.6%  vs.  99.38%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ViT-B/32 (inference):    82.1%  vs.  99.51%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Gap is best explained by array-size tiling effect (64-MAC array tiles far more easily against</a:t>
            </a:r>
          </a:p>
          <a:p>
            <a:pPr>
              <a:spcAft>
                <a:spcPts val="400"/>
              </a:spcAft>
              <a:defRPr sz="1600">
                <a:solidFill>
                  <a:srgbClr val="444444"/>
                </a:solidFill>
              </a:defRPr>
            </a:pPr>
            <a:r>
              <a:t>   - these layer shapes than a 1024-PE array), not an architectural shortfall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1F2A"/>
                </a:solidFill>
              </a:defRPr>
            </a:pPr>
            <a:r>
              <a:t>PrimeTime Synthesis Results -- Per-PE</a:t>
            </a:r>
          </a:p>
          <a:p>
            <a:pPr>
              <a:defRPr sz="1500" i="1">
                <a:solidFill>
                  <a:srgbClr val="444444"/>
                </a:solidFill>
              </a:defRPr>
            </a:pPr>
            <a:r>
              <a:t>TSMC 28nm, TT corner, 0.8V, 25°C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 (fusion width)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Clock period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Area / PE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Power / PE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0.56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1.786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11,302.58 µm²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7.027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0.64 ns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1.5625 GHz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15,147.97 µm²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9.9077 mW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0.62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1.6129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19,931.18 µm²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B1F2A"/>
                          </a:solidFill>
                        </a:defRPr>
                      </a:pPr>
                      <a:r>
                        <a:t>15.080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B1F2A"/>
                </a:solidFill>
              </a:defRPr>
            </a:pPr>
            <a:r>
              <a:t>▸ N=8 to N=16: clock period improves slightly (0.64 -&gt; 0.62 ns) despite doubling fusion width --</a:t>
            </a:r>
          </a:p>
          <a:p>
            <a:pPr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   - opposite of the N=4-&gt;N=8 trend; reported as an observed synthesis result, not explained here</a:t>
            </a:r>
          </a:p>
          <a:p>
            <a:pPr>
              <a:spcAft>
                <a:spcPts val="1000"/>
              </a:spcAft>
              <a:defRPr sz="1700">
                <a:solidFill>
                  <a:srgbClr val="1B1F2A"/>
                </a:solidFill>
              </a:defRPr>
            </a:pPr>
            <a:r>
              <a:t>▸ Array-level (x1024 PEs): Area = 11.57 / 15.51 / 20.41 mm²   |   Power = 7.19 / 10.15 / 15.44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1F2A"/>
                </a:solidFill>
              </a:defRPr>
            </a:pPr>
            <a:r>
              <a:t>Combined System-Level Results</a:t>
            </a:r>
          </a:p>
          <a:p>
            <a:pPr>
              <a:defRPr sz="1500" i="1">
                <a:solidFill>
                  <a:srgbClr val="444444"/>
                </a:solidFill>
              </a:defRPr>
            </a:pPr>
            <a:r>
              <a:t>SCALE-Sim cycles x PrimeTime PPA -- Table 1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Peak TOPS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Achieved TOPS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TOPS / W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TOPS / mm²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Utilization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14.63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9.90 - 13.86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1.38 - 1.93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0.86 - 1.20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67.7% - 94.8%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25.60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17.33 - 24.26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1.71 - 2.39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1.12 - 1.56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67.7% - 94.8%</a:t>
                      </a:r>
                    </a:p>
                  </a:txBody>
                  <a:tcPr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52.85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35.78 - 50.09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2.32 - 3.24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1.75 - 2.45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F2A"/>
                          </a:solidFill>
                        </a:defRPr>
                      </a:pPr>
                      <a:r>
                        <a:t>67.7% - 94.8%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B1F2A"/>
                </a:solidFill>
              </a:defRPr>
            </a:pPr>
            <a:r>
              <a:t>▸ Ranges exclude the MLPerf-Transformer benchmark (documented outlier, slides 2 &amp; 4)</a:t>
            </a:r>
          </a:p>
          <a:p>
            <a:pPr>
              <a:spcAft>
                <a:spcPts val="1000"/>
              </a:spcAft>
              <a:defRPr sz="1600">
                <a:solidFill>
                  <a:srgbClr val="1B1F2A"/>
                </a:solidFill>
              </a:defRPr>
            </a:pPr>
            <a:r>
              <a:t>▸ Wider fusion is a net win on every efficiency metric, not only raw throughput: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   - N=4 -&gt; N=16: power/PE grows 2.15x, area/PE grows 1.76x, peak throughput grows 3.61x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   - net effect: TOPS/W improves 1.68x, TOPS/mm² improves 2.05x</a:t>
            </a:r>
          </a:p>
          <a:p>
            <a:pPr>
              <a:spcAft>
                <a:spcPts val="1000"/>
              </a:spcAft>
              <a:defRPr sz="1600">
                <a:solidFill>
                  <a:srgbClr val="1B1F2A"/>
                </a:solidFill>
              </a:defRPr>
            </a:pPr>
            <a:r>
              <a:t>▸ vs. published MX designs (Table 2, evaluation_methodology_paragraph.txt): competitive GOPS/W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   - range at N=16 (2317-3244) against Cuyckens NPU-integrated work's 1438-1675 (MXFP8/6), one node behind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1078</Words>
  <Application>Microsoft Macintosh PowerPoint</Application>
  <PresentationFormat>Widescreen</PresentationFormat>
  <Paragraphs>157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Mohamed</cp:lastModifiedBy>
  <cp:revision>1</cp:revision>
  <dcterms:created xsi:type="dcterms:W3CDTF">2013-01-27T09:14:16Z</dcterms:created>
  <dcterms:modified xsi:type="dcterms:W3CDTF">2026-07-07T20:51:40Z</dcterms:modified>
  <cp:category/>
</cp:coreProperties>
</file>